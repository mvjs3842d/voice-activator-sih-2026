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Calibri (MS)" charset="1" panose="020F0502020204030204"/>
      <p:regular r:id="rId20"/>
    </p:embeddedFont>
    <p:embeddedFont>
      <p:font typeface="Times New Roman" charset="1" panose="02020603050405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https://drive.google.com/drive/folders/1GnupSJw4ptxABWDBkI7cEEF0qOaIb0ff?usp=drive_link" TargetMode="External" Type="http://schemas.openxmlformats.org/officeDocument/2006/relationships/hyperlink"/><Relationship Id="rId6" Target="https://drive.google.com/drive/folders/1hQZrd8yofaLOQsUQouFpJ11uPzKuLRpo?usp=drive_link" TargetMode="External" Type="http://schemas.openxmlformats.org/officeDocument/2006/relationships/hyperlink"/><Relationship Id="rId7" Target="https://drive.google.com/drive/folders/1W00cczZe7VaKeJny0QiycFpMyPxm-vsg?usp=drive_link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40071" y="3039993"/>
            <a:ext cx="5166034" cy="5525206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22100" y="2410590"/>
            <a:ext cx="8703945" cy="753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l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SIH26172</a:t>
            </a:r>
          </a:p>
          <a:p>
            <a:pPr algn="l" marL="651510" indent="-325755" lvl="1">
              <a:lnSpc>
                <a:spcPts val="514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Low Latency and Efficient Voice Activator for Edge Devices</a:t>
            </a:r>
          </a:p>
          <a:p>
            <a:pPr algn="l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Smart Automation</a:t>
            </a:r>
          </a:p>
          <a:p>
            <a:pPr algn="l" marL="651510" indent="-325755" lvl="1">
              <a:lnSpc>
                <a:spcPts val="72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Hardware</a:t>
            </a:r>
          </a:p>
          <a:p>
            <a:pPr algn="l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</a:t>
            </a:r>
          </a:p>
          <a:p>
            <a:pPr algn="l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Electronauts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9600" y="-591263"/>
            <a:ext cx="16459200" cy="1901168"/>
            <a:chOff x="0" y="0"/>
            <a:chExt cx="21945600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2665137" cy="1236431"/>
            <a:chOff x="0" y="0"/>
            <a:chExt cx="3553516" cy="1648574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3553463" cy="1648587"/>
            </a:xfrm>
            <a:custGeom>
              <a:avLst/>
              <a:gdLst/>
              <a:ahLst/>
              <a:cxnLst/>
              <a:rect r="r" b="b" t="t" l="l"/>
              <a:pathLst>
                <a:path h="1648587" w="3553463">
                  <a:moveTo>
                    <a:pt x="0" y="824293"/>
                  </a:moveTo>
                  <a:cubicBezTo>
                    <a:pt x="0" y="369090"/>
                    <a:pt x="795528" y="0"/>
                    <a:pt x="1776731" y="0"/>
                  </a:cubicBezTo>
                  <a:cubicBezTo>
                    <a:pt x="2757935" y="0"/>
                    <a:pt x="3553463" y="369090"/>
                    <a:pt x="3553463" y="824293"/>
                  </a:cubicBezTo>
                  <a:cubicBezTo>
                    <a:pt x="3553463" y="1279497"/>
                    <a:pt x="2757935" y="1648587"/>
                    <a:pt x="1776731" y="1648587"/>
                  </a:cubicBezTo>
                  <a:cubicBezTo>
                    <a:pt x="795528" y="1648587"/>
                    <a:pt x="0" y="1279497"/>
                    <a:pt x="0" y="82429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553516" cy="1705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Electronauts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778301" y="1812230"/>
            <a:ext cx="6230414" cy="2180508"/>
            <a:chOff x="0" y="0"/>
            <a:chExt cx="8307219" cy="290734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307219" cy="2907344"/>
              <a:chOff x="0" y="0"/>
              <a:chExt cx="1923972" cy="67334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23972" cy="673348"/>
              </a:xfrm>
              <a:custGeom>
                <a:avLst/>
                <a:gdLst/>
                <a:ahLst/>
                <a:cxnLst/>
                <a:rect r="r" b="b" t="t" l="l"/>
                <a:pathLst>
                  <a:path h="673348" w="1923972">
                    <a:moveTo>
                      <a:pt x="0" y="0"/>
                    </a:moveTo>
                    <a:lnTo>
                      <a:pt x="1923972" y="0"/>
                    </a:lnTo>
                    <a:lnTo>
                      <a:pt x="1923972" y="673348"/>
                    </a:lnTo>
                    <a:lnTo>
                      <a:pt x="0" y="67334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1923972" cy="69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93271" y="101122"/>
              <a:ext cx="7882783" cy="2686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</a:t>
              </a:r>
              <a:r>
                <a:rPr lang="en-US" sz="2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dea : 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micropone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stays continuously active and listens locally.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ESP32 detects the custom wake word on-device without continuously sending audio to the cloud.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75612" y="4823203"/>
            <a:ext cx="6496688" cy="3878475"/>
            <a:chOff x="0" y="0"/>
            <a:chExt cx="1711062" cy="10214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11062" cy="1021491"/>
            </a:xfrm>
            <a:custGeom>
              <a:avLst/>
              <a:gdLst/>
              <a:ahLst/>
              <a:cxnLst/>
              <a:rect r="r" b="b" t="t" l="l"/>
              <a:pathLst>
                <a:path h="1021491" w="1711062">
                  <a:moveTo>
                    <a:pt x="0" y="0"/>
                  </a:moveTo>
                  <a:lnTo>
                    <a:pt x="1711062" y="0"/>
                  </a:lnTo>
                  <a:lnTo>
                    <a:pt x="1711062" y="1021491"/>
                  </a:lnTo>
                  <a:lnTo>
                    <a:pt x="0" y="102149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711062" cy="1040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26760" y="4909828"/>
            <a:ext cx="6164756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 : </a:t>
            </a:r>
          </a:p>
          <a:p>
            <a:pPr algn="l" marL="474983" indent="-237491" lvl="1">
              <a:lnSpc>
                <a:spcPts val="264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DMA + </a:t>
            </a: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Circular Buffer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continuously captures audio without overloading the CPU.</a:t>
            </a:r>
          </a:p>
          <a:p>
            <a:pPr algn="l" marL="474983" indent="-237491" lvl="1">
              <a:lnSpc>
                <a:spcPts val="264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VAD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detects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human speech and activates the </a:t>
            </a: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KWS model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474983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INT8 DS-</a:t>
            </a: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detects the custom keyword locally.</a:t>
            </a:r>
          </a:p>
          <a:p>
            <a:pPr algn="l" marL="474983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detection, the stored </a:t>
            </a: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pre-roll + live audio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sent to the </a:t>
            </a: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ASR server.</a:t>
            </a:r>
          </a:p>
          <a:p>
            <a:pPr algn="l" marL="474983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</a:t>
            </a:r>
            <a:r>
              <a:rPr lang="en-US" b="true" sz="2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osk / Faster-Whisper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converts the command into text for IoT action. 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778301" y="4323141"/>
            <a:ext cx="6266602" cy="4878600"/>
            <a:chOff x="0" y="0"/>
            <a:chExt cx="8355470" cy="65048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8355470" cy="6504800"/>
              <a:chOff x="0" y="0"/>
              <a:chExt cx="1650463" cy="128489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650463" cy="1284899"/>
              </a:xfrm>
              <a:custGeom>
                <a:avLst/>
                <a:gdLst/>
                <a:ahLst/>
                <a:cxnLst/>
                <a:rect r="r" b="b" t="t" l="l"/>
                <a:pathLst>
                  <a:path h="1284899" w="1650463">
                    <a:moveTo>
                      <a:pt x="0" y="0"/>
                    </a:moveTo>
                    <a:lnTo>
                      <a:pt x="1650463" y="0"/>
                    </a:lnTo>
                    <a:lnTo>
                      <a:pt x="1650463" y="1284899"/>
                    </a:lnTo>
                    <a:lnTo>
                      <a:pt x="0" y="128489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9050"/>
                <a:ext cx="1650463" cy="13039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94394" y="121850"/>
              <a:ext cx="7928568" cy="624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</a:t>
              </a:r>
              <a:r>
                <a:rPr lang="en-US" sz="2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pact and innovation :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</a:t>
              </a:r>
              <a:r>
                <a:rPr lang="en-US" b="true" sz="2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 decision-making: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Wake-word detection happens directly on ESP32.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Zero audio clipping: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Circular buffer preserves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audio before the wake word.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Low resource usage: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Designed for &lt;256 KB RAM and &lt;10% idle CPU.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 network usage: Audio is streamed only after wake-word detection.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Privacy-focused: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Continuous raw audio is not sent to the cloud.</a:t>
              </a:r>
            </a:p>
            <a:p>
              <a:pPr algn="l" marL="474983" indent="-237491" lvl="1">
                <a:lnSpc>
                  <a:spcPts val="26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Custom keyword + open-source TinyML: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No proprietary wake-word SDKs or generic pre-trained wake words.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5612" y="1952536"/>
            <a:ext cx="6496688" cy="2513883"/>
            <a:chOff x="0" y="0"/>
            <a:chExt cx="8662251" cy="3351844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8662251" cy="3351844"/>
              <a:chOff x="0" y="0"/>
              <a:chExt cx="2006198" cy="77629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006198" cy="776295"/>
              </a:xfrm>
              <a:custGeom>
                <a:avLst/>
                <a:gdLst/>
                <a:ahLst/>
                <a:cxnLst/>
                <a:rect r="r" b="b" t="t" l="l"/>
                <a:pathLst>
                  <a:path h="776295" w="2006198">
                    <a:moveTo>
                      <a:pt x="0" y="0"/>
                    </a:moveTo>
                    <a:lnTo>
                      <a:pt x="2006198" y="0"/>
                    </a:lnTo>
                    <a:lnTo>
                      <a:pt x="2006198" y="776295"/>
                    </a:lnTo>
                    <a:lnTo>
                      <a:pt x="0" y="77629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9050"/>
                <a:ext cx="2006198" cy="795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01531" y="101122"/>
              <a:ext cx="8219675" cy="313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</a:t>
              </a:r>
              <a:r>
                <a:rPr lang="en-US" sz="2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 :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Cloud-bas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 voice processing causes</a:t>
              </a: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latency, high network usage and privacy concerns.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Continuous audio streaming increases dependency on the internet.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Low-power edge devices have limited RAM and CPU resources. 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7444058" y="1595752"/>
            <a:ext cx="3862484" cy="7306081"/>
          </a:xfrm>
          <a:custGeom>
            <a:avLst/>
            <a:gdLst/>
            <a:ahLst/>
            <a:cxnLst/>
            <a:rect r="r" b="b" t="t" l="l"/>
            <a:pathLst>
              <a:path h="7306081" w="3862484">
                <a:moveTo>
                  <a:pt x="0" y="0"/>
                </a:moveTo>
                <a:lnTo>
                  <a:pt x="3862485" y="0"/>
                </a:lnTo>
                <a:lnTo>
                  <a:pt x="3862485" y="7306080"/>
                </a:lnTo>
                <a:lnTo>
                  <a:pt x="0" y="7306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095" t="0" r="-12007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-582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35282" y="167597"/>
            <a:ext cx="2665137" cy="1236431"/>
            <a:chOff x="0" y="0"/>
            <a:chExt cx="3553516" cy="1648574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3553463" cy="1648587"/>
            </a:xfrm>
            <a:custGeom>
              <a:avLst/>
              <a:gdLst/>
              <a:ahLst/>
              <a:cxnLst/>
              <a:rect r="r" b="b" t="t" l="l"/>
              <a:pathLst>
                <a:path h="1648587" w="3553463">
                  <a:moveTo>
                    <a:pt x="0" y="824293"/>
                  </a:moveTo>
                  <a:cubicBezTo>
                    <a:pt x="0" y="369090"/>
                    <a:pt x="795528" y="0"/>
                    <a:pt x="1776731" y="0"/>
                  </a:cubicBezTo>
                  <a:cubicBezTo>
                    <a:pt x="2757935" y="0"/>
                    <a:pt x="3553463" y="369090"/>
                    <a:pt x="3553463" y="824293"/>
                  </a:cubicBezTo>
                  <a:cubicBezTo>
                    <a:pt x="3553463" y="1279497"/>
                    <a:pt x="2757935" y="1648587"/>
                    <a:pt x="1776731" y="1648587"/>
                  </a:cubicBezTo>
                  <a:cubicBezTo>
                    <a:pt x="795528" y="1648587"/>
                    <a:pt x="0" y="1279497"/>
                    <a:pt x="0" y="82429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553516" cy="1705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Electronauts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3141" y="1499217"/>
            <a:ext cx="6160685" cy="7671037"/>
            <a:chOff x="0" y="0"/>
            <a:chExt cx="8214247" cy="1022804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214247" cy="10228049"/>
              <a:chOff x="0" y="0"/>
              <a:chExt cx="2296860" cy="285995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96860" cy="2859957"/>
              </a:xfrm>
              <a:custGeom>
                <a:avLst/>
                <a:gdLst/>
                <a:ahLst/>
                <a:cxnLst/>
                <a:rect r="r" b="b" t="t" l="l"/>
                <a:pathLst>
                  <a:path h="2859957" w="2296860">
                    <a:moveTo>
                      <a:pt x="0" y="0"/>
                    </a:moveTo>
                    <a:lnTo>
                      <a:pt x="2296860" y="0"/>
                    </a:lnTo>
                    <a:lnTo>
                      <a:pt x="2296860" y="2859957"/>
                    </a:lnTo>
                    <a:lnTo>
                      <a:pt x="0" y="2859957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2296860" cy="2879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75081" y="152663"/>
              <a:ext cx="7710589" cy="9975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Hardwar</a:t>
              </a:r>
              <a:r>
                <a:rPr lang="en-US" sz="1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 :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ESP32 </a:t>
              </a: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: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Edge Processing Unit. Chosen for its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dual-core processing and hardware DMA, perfect for handling parallel audio and network tasks.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INMP441 :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 I2S sensor that pipes digital audio directly into memory, completely bypassing CPU-heavy analog-to-digital conversions.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5V Relay Module: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Chosen to safely toggle physical high-voltage smart home appliances using the ESP32.</a:t>
              </a:r>
            </a:p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 Stack :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TensorFlow Lite :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 open-source runtime chosen to run our heavily compressed (INT8 quantized) model in a tiny 60–80KB footprint.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DS-CNN :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Model Architecture. Chosen for its ultra-lightweight efficiency, providing highly accurate Keyword Spotting (KWS) while keeping idle CPU utilization strictly &lt; 10%.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C-Based Ring Buffer: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Memory Management. Chosen to constantly hold 1.5 seconds of historical audio in RAM, so the command is never cut off.</a:t>
              </a:r>
            </a:p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Server-Side : 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Google Colab Server: S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calable cloud backend, instantly processing incoming audio streams and returning actionable JSON commands directly to the ESP32.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Faster-Whisper : </a:t>
              </a: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 open-source speech recognition engine hosted on Colab, leveraging cloud GPUs for real-time, highly accurate transcription.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537198" y="2524824"/>
            <a:ext cx="11507705" cy="5388491"/>
          </a:xfrm>
          <a:custGeom>
            <a:avLst/>
            <a:gdLst/>
            <a:ahLst/>
            <a:cxnLst/>
            <a:rect r="r" b="b" t="t" l="l"/>
            <a:pathLst>
              <a:path h="5388491" w="11507705">
                <a:moveTo>
                  <a:pt x="0" y="0"/>
                </a:moveTo>
                <a:lnTo>
                  <a:pt x="11507705" y="0"/>
                </a:lnTo>
                <a:lnTo>
                  <a:pt x="11507705" y="5388491"/>
                </a:lnTo>
                <a:lnTo>
                  <a:pt x="0" y="5388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5" t="-781" r="0" b="-127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5612" y="359321"/>
            <a:ext cx="2665137" cy="1236431"/>
            <a:chOff x="0" y="0"/>
            <a:chExt cx="3553516" cy="1648574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3553463" cy="1648587"/>
            </a:xfrm>
            <a:custGeom>
              <a:avLst/>
              <a:gdLst/>
              <a:ahLst/>
              <a:cxnLst/>
              <a:rect r="r" b="b" t="t" l="l"/>
              <a:pathLst>
                <a:path h="1648587" w="3553463">
                  <a:moveTo>
                    <a:pt x="0" y="824293"/>
                  </a:moveTo>
                  <a:cubicBezTo>
                    <a:pt x="0" y="369090"/>
                    <a:pt x="795528" y="0"/>
                    <a:pt x="1776731" y="0"/>
                  </a:cubicBezTo>
                  <a:cubicBezTo>
                    <a:pt x="2757935" y="0"/>
                    <a:pt x="3553463" y="369090"/>
                    <a:pt x="3553463" y="824293"/>
                  </a:cubicBezTo>
                  <a:cubicBezTo>
                    <a:pt x="3553463" y="1279497"/>
                    <a:pt x="2757935" y="1648587"/>
                    <a:pt x="1776731" y="1648587"/>
                  </a:cubicBezTo>
                  <a:cubicBezTo>
                    <a:pt x="795528" y="1648587"/>
                    <a:pt x="0" y="1279497"/>
                    <a:pt x="0" y="82429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553516" cy="1705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Electronauts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7284" y="1841382"/>
            <a:ext cx="5485394" cy="6842362"/>
            <a:chOff x="0" y="0"/>
            <a:chExt cx="7313859" cy="912314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313859" cy="9123149"/>
              <a:chOff x="0" y="0"/>
              <a:chExt cx="2045094" cy="255100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45094" cy="2551006"/>
              </a:xfrm>
              <a:custGeom>
                <a:avLst/>
                <a:gdLst/>
                <a:ahLst/>
                <a:cxnLst/>
                <a:rect r="r" b="b" t="t" l="l"/>
                <a:pathLst>
                  <a:path h="2551006" w="2045094">
                    <a:moveTo>
                      <a:pt x="0" y="0"/>
                    </a:moveTo>
                    <a:lnTo>
                      <a:pt x="2045094" y="0"/>
                    </a:lnTo>
                    <a:lnTo>
                      <a:pt x="2045094" y="2551006"/>
                    </a:lnTo>
                    <a:lnTo>
                      <a:pt x="0" y="2551006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2045094" cy="25700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44928" y="152663"/>
              <a:ext cx="6865408" cy="8870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</a:t>
              </a: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</a:t>
              </a: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asibility &amp; Viabil</a:t>
              </a: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ity :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ESP32-based: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Supports dual-core processing, Wi-Fi and hardware DMA.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Memory feasible: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Ring Buffer (~48 KB) + INT8 model (~70 KB) + TFLM Arena (~40 KB) ≈ 158 KB, within the &lt;256 KB limit.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Low CPU usage: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VAD keeps the system below the &lt;10% idle CPU target.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Open-source &amp; low-cost: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Uses ESP-IDF, TFLM and open-source ASR tools.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Deployable: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ASR can run on a local laptop/server.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01303" y="1841382"/>
            <a:ext cx="5485394" cy="6061312"/>
            <a:chOff x="0" y="0"/>
            <a:chExt cx="7313859" cy="808174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313859" cy="8081749"/>
              <a:chOff x="0" y="0"/>
              <a:chExt cx="2045094" cy="225981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045094" cy="2259811"/>
              </a:xfrm>
              <a:custGeom>
                <a:avLst/>
                <a:gdLst/>
                <a:ahLst/>
                <a:cxnLst/>
                <a:rect r="r" b="b" t="t" l="l"/>
                <a:pathLst>
                  <a:path h="2259811" w="2045094">
                    <a:moveTo>
                      <a:pt x="0" y="0"/>
                    </a:moveTo>
                    <a:lnTo>
                      <a:pt x="2045094" y="0"/>
                    </a:lnTo>
                    <a:lnTo>
                      <a:pt x="2045094" y="2259811"/>
                    </a:lnTo>
                    <a:lnTo>
                      <a:pt x="0" y="2259811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2045094" cy="22788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44928" y="152663"/>
              <a:ext cx="6865408" cy="7829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</a:t>
              </a: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otential Challenges &amp; Risks :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</a:t>
              </a: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ackground noise →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False wake-ups.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 quality →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Reduced keyword accuracy.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Active processing →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Temporary CPU spikes during MFCC/CNN computation.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Wi-Fi congestion →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Packet loss and network jitter.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Microphone variations →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accuracy across low-cost micr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ophone modules. </a:t>
              </a:r>
            </a:p>
            <a:p>
              <a:pPr algn="l">
                <a:lnSpc>
                  <a:spcPts val="3119"/>
                </a:lnSpc>
              </a:pPr>
            </a:p>
            <a:p>
              <a:pPr algn="l">
                <a:lnSpc>
                  <a:spcPts val="311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13133" y="1841382"/>
            <a:ext cx="5485394" cy="6842362"/>
            <a:chOff x="0" y="0"/>
            <a:chExt cx="7313859" cy="912314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313859" cy="9123149"/>
              <a:chOff x="0" y="0"/>
              <a:chExt cx="2045094" cy="255100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045094" cy="2551006"/>
              </a:xfrm>
              <a:custGeom>
                <a:avLst/>
                <a:gdLst/>
                <a:ahLst/>
                <a:cxnLst/>
                <a:rect r="r" b="b" t="t" l="l"/>
                <a:pathLst>
                  <a:path h="2551006" w="2045094">
                    <a:moveTo>
                      <a:pt x="0" y="0"/>
                    </a:moveTo>
                    <a:lnTo>
                      <a:pt x="2045094" y="0"/>
                    </a:lnTo>
                    <a:lnTo>
                      <a:pt x="2045094" y="2551006"/>
                    </a:lnTo>
                    <a:lnTo>
                      <a:pt x="0" y="2551006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2045094" cy="25700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44928" y="152663"/>
              <a:ext cx="6865408" cy="8870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Strat</a:t>
              </a: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egies to Overcome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Nois</a:t>
              </a: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e: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 with diverse background-noise samples + use VAD.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Accuracy: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Collect recordings from different speakers, accents and environments.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CPU/Memory: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 INT8 DS-CNN and run AI only after VAD detects speech.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Network: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 lightweight WebSocket + Wi-Fi reconnection handling.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Hardware: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 and benchmark with different micr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ophone modules. </a:t>
              </a:r>
            </a:p>
            <a:p>
              <a:pPr algn="l">
                <a:lnSpc>
                  <a:spcPts val="311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5612" y="359321"/>
            <a:ext cx="2665137" cy="1236431"/>
            <a:chOff x="0" y="0"/>
            <a:chExt cx="3553516" cy="1648574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3553463" cy="1648587"/>
            </a:xfrm>
            <a:custGeom>
              <a:avLst/>
              <a:gdLst/>
              <a:ahLst/>
              <a:cxnLst/>
              <a:rect r="r" b="b" t="t" l="l"/>
              <a:pathLst>
                <a:path h="1648587" w="3553463">
                  <a:moveTo>
                    <a:pt x="0" y="824293"/>
                  </a:moveTo>
                  <a:cubicBezTo>
                    <a:pt x="0" y="369090"/>
                    <a:pt x="795528" y="0"/>
                    <a:pt x="1776731" y="0"/>
                  </a:cubicBezTo>
                  <a:cubicBezTo>
                    <a:pt x="2757935" y="0"/>
                    <a:pt x="3553463" y="369090"/>
                    <a:pt x="3553463" y="824293"/>
                  </a:cubicBezTo>
                  <a:cubicBezTo>
                    <a:pt x="3553463" y="1279497"/>
                    <a:pt x="2757935" y="1648587"/>
                    <a:pt x="1776731" y="1648587"/>
                  </a:cubicBezTo>
                  <a:cubicBezTo>
                    <a:pt x="795528" y="1648587"/>
                    <a:pt x="0" y="1279497"/>
                    <a:pt x="0" y="82429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553516" cy="1705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Electronauts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61759" y="1861845"/>
            <a:ext cx="5485394" cy="4108687"/>
            <a:chOff x="0" y="0"/>
            <a:chExt cx="7313859" cy="547824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313859" cy="5478249"/>
              <a:chOff x="0" y="0"/>
              <a:chExt cx="2045094" cy="153182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45094" cy="1531823"/>
              </a:xfrm>
              <a:custGeom>
                <a:avLst/>
                <a:gdLst/>
                <a:ahLst/>
                <a:cxnLst/>
                <a:rect r="r" b="b" t="t" l="l"/>
                <a:pathLst>
                  <a:path h="1531823" w="2045094">
                    <a:moveTo>
                      <a:pt x="0" y="0"/>
                    </a:moveTo>
                    <a:lnTo>
                      <a:pt x="2045094" y="0"/>
                    </a:lnTo>
                    <a:lnTo>
                      <a:pt x="2045094" y="1531823"/>
                    </a:lnTo>
                    <a:lnTo>
                      <a:pt x="0" y="1531823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2045094" cy="15508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44928" y="152663"/>
              <a:ext cx="6865408" cy="5226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Targ</a:t>
              </a: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et Audience :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</a:t>
              </a: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art-Home Users –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faster and responsive voice-controlled devices.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IoT Developers &amp; Engineers –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lightweight voice activation for resource-limited devices.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Businesses &amp; Industries –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voice-controlled IoT for automati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 and monitoring.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0890" y="6087519"/>
            <a:ext cx="5485394" cy="3327637"/>
            <a:chOff x="0" y="0"/>
            <a:chExt cx="7313859" cy="443684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313859" cy="4436849"/>
              <a:chOff x="0" y="0"/>
              <a:chExt cx="2045094" cy="124062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045094" cy="1240628"/>
              </a:xfrm>
              <a:custGeom>
                <a:avLst/>
                <a:gdLst/>
                <a:ahLst/>
                <a:cxnLst/>
                <a:rect r="r" b="b" t="t" l="l"/>
                <a:pathLst>
                  <a:path h="1240628" w="2045094">
                    <a:moveTo>
                      <a:pt x="0" y="0"/>
                    </a:moveTo>
                    <a:lnTo>
                      <a:pt x="2045094" y="0"/>
                    </a:lnTo>
                    <a:lnTo>
                      <a:pt x="2045094" y="1240628"/>
                    </a:lnTo>
                    <a:lnTo>
                      <a:pt x="0" y="124062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2045094" cy="12596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44928" y="152663"/>
              <a:ext cx="6865408" cy="418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Social</a:t>
              </a: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Benefits :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</a:t>
              </a: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tter User Experience —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On-device wake-word detection means faster response and smoother interaction.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Improved Privacy —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Audio stays local; no continuous raw audio is sent t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 the cloud.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60378" y="2252370"/>
            <a:ext cx="5485394" cy="3327637"/>
            <a:chOff x="0" y="0"/>
            <a:chExt cx="7313859" cy="443684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313859" cy="4436849"/>
              <a:chOff x="0" y="0"/>
              <a:chExt cx="2045094" cy="124062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045094" cy="1240628"/>
              </a:xfrm>
              <a:custGeom>
                <a:avLst/>
                <a:gdLst/>
                <a:ahLst/>
                <a:cxnLst/>
                <a:rect r="r" b="b" t="t" l="l"/>
                <a:pathLst>
                  <a:path h="1240628" w="2045094">
                    <a:moveTo>
                      <a:pt x="0" y="0"/>
                    </a:moveTo>
                    <a:lnTo>
                      <a:pt x="2045094" y="0"/>
                    </a:lnTo>
                    <a:lnTo>
                      <a:pt x="2045094" y="1240628"/>
                    </a:lnTo>
                    <a:lnTo>
                      <a:pt x="0" y="124062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2045094" cy="12596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44928" y="152663"/>
              <a:ext cx="6865408" cy="418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Economic</a:t>
              </a: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Benefits :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Low</a:t>
              </a: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 Development Cost —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Built on open-source frameworks, avoiding proprietary SDK fees.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Reduced Data Cost —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Audio streams only after wake-word detection, cutting unnecessary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data usage.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60378" y="5970532"/>
            <a:ext cx="5485394" cy="2937112"/>
            <a:chOff x="0" y="0"/>
            <a:chExt cx="7313859" cy="391614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7313859" cy="3916149"/>
              <a:chOff x="0" y="0"/>
              <a:chExt cx="2045094" cy="109503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045094" cy="1095030"/>
              </a:xfrm>
              <a:custGeom>
                <a:avLst/>
                <a:gdLst/>
                <a:ahLst/>
                <a:cxnLst/>
                <a:rect r="r" b="b" t="t" l="l"/>
                <a:pathLst>
                  <a:path h="1095030" w="2045094">
                    <a:moveTo>
                      <a:pt x="0" y="0"/>
                    </a:moveTo>
                    <a:lnTo>
                      <a:pt x="2045094" y="0"/>
                    </a:lnTo>
                    <a:lnTo>
                      <a:pt x="2045094" y="1095030"/>
                    </a:lnTo>
                    <a:lnTo>
                      <a:pt x="0" y="109503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9050"/>
                <a:ext cx="2045094" cy="11140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244928" y="152663"/>
              <a:ext cx="6865408" cy="3663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Environmental</a:t>
              </a: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Benefits :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Low</a:t>
              </a: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Power Consumption —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Lightweight on-device AI models draw minimal power.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Reduced Data Transmission —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Less continuous streaming lowers network and energy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usage.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61068" y="3142735"/>
            <a:ext cx="5485394" cy="4889737"/>
            <a:chOff x="0" y="0"/>
            <a:chExt cx="7313859" cy="6519649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7313859" cy="6519649"/>
              <a:chOff x="0" y="0"/>
              <a:chExt cx="2045094" cy="182301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045094" cy="1823018"/>
              </a:xfrm>
              <a:custGeom>
                <a:avLst/>
                <a:gdLst/>
                <a:ahLst/>
                <a:cxnLst/>
                <a:rect r="r" b="b" t="t" l="l"/>
                <a:pathLst>
                  <a:path h="1823018" w="2045094">
                    <a:moveTo>
                      <a:pt x="0" y="0"/>
                    </a:moveTo>
                    <a:lnTo>
                      <a:pt x="2045094" y="0"/>
                    </a:lnTo>
                    <a:lnTo>
                      <a:pt x="2045094" y="1823018"/>
                    </a:lnTo>
                    <a:lnTo>
                      <a:pt x="0" y="182301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70C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9050"/>
                <a:ext cx="2045094" cy="18420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244928" y="152663"/>
              <a:ext cx="6865408" cy="626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Overall Impact :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Triggered Streaming –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is transmitted only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when needed, reducing data usage, c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ost,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energy consumption.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Privacy by Design –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raw audio leaves the device, ensuring user data remains private.</a:t>
              </a:r>
            </a:p>
            <a:p>
              <a:pPr algn="l" marL="561336" indent="-280668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SDK Independent – 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proprietary SDKs; low-cost edge hardware performs the required processing</a:t>
              </a:r>
              <a:r>
                <a:rPr lang="en-US" sz="25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locally.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5612" y="359321"/>
            <a:ext cx="2665137" cy="1236431"/>
            <a:chOff x="0" y="0"/>
            <a:chExt cx="3553516" cy="1648574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3553463" cy="1648587"/>
            </a:xfrm>
            <a:custGeom>
              <a:avLst/>
              <a:gdLst/>
              <a:ahLst/>
              <a:cxnLst/>
              <a:rect r="r" b="b" t="t" l="l"/>
              <a:pathLst>
                <a:path h="1648587" w="3553463">
                  <a:moveTo>
                    <a:pt x="0" y="824293"/>
                  </a:moveTo>
                  <a:cubicBezTo>
                    <a:pt x="0" y="369090"/>
                    <a:pt x="795528" y="0"/>
                    <a:pt x="1776731" y="0"/>
                  </a:cubicBezTo>
                  <a:cubicBezTo>
                    <a:pt x="2757935" y="0"/>
                    <a:pt x="3553463" y="369090"/>
                    <a:pt x="3553463" y="824293"/>
                  </a:cubicBezTo>
                  <a:cubicBezTo>
                    <a:pt x="3553463" y="1279497"/>
                    <a:pt x="2757935" y="1648587"/>
                    <a:pt x="1776731" y="1648587"/>
                  </a:cubicBezTo>
                  <a:cubicBezTo>
                    <a:pt x="795528" y="1648587"/>
                    <a:pt x="0" y="1279497"/>
                    <a:pt x="0" y="82429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553516" cy="1705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Electronauts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808180" y="2295223"/>
            <a:ext cx="13724669" cy="575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</a:p>
          <a:p>
            <a:pPr algn="l" marL="593305" indent="-296652" lvl="1">
              <a:lnSpc>
                <a:spcPts val="3297"/>
              </a:lnSpc>
              <a:buFont typeface="Arial"/>
              <a:buChar char="•"/>
            </a:pPr>
            <a:r>
              <a:rPr lang="en-US" b="true" sz="274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Research areas: </a:t>
            </a:r>
            <a:r>
              <a:rPr lang="en-US" sz="27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edge AI, keyword spotting, TinyML, low-latency streaming, IoT voice control. </a:t>
            </a:r>
          </a:p>
          <a:p>
            <a:pPr algn="l" marL="593305" indent="-296652" lvl="1">
              <a:lnSpc>
                <a:spcPts val="3297"/>
              </a:lnSpc>
              <a:buFont typeface="Arial"/>
              <a:buChar char="•"/>
            </a:pPr>
            <a:r>
              <a:rPr lang="en-US" b="true" sz="274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Supporting references: </a:t>
            </a:r>
            <a:r>
              <a:rPr lang="en-US" sz="27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IEEE papers, Article on ESP32 TinyML implementation, and Google Scholar sources on keyword spotting and TensorFlow Lite Micro.</a:t>
            </a:r>
          </a:p>
          <a:p>
            <a:pPr algn="l" marL="593305" indent="-296652" lvl="1">
              <a:lnSpc>
                <a:spcPts val="3297"/>
              </a:lnSpc>
              <a:buFont typeface="Arial"/>
              <a:buChar char="•"/>
            </a:pPr>
            <a:r>
              <a:rPr lang="en-US" b="true" sz="274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Research Paper and Reports : </a:t>
            </a:r>
            <a:r>
              <a:rPr lang="en-US" sz="2748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5" tooltip="https://drive.google.com/drive/folders/1GnupSJw4ptxABWDBkI7cEEF0qOaIb0ff?usp=drive_link"/>
              </a:rPr>
              <a:t>https://drive.google.com/drive/folders/1GnupSJw4ptxABWDBkI7cEEF0qOaIb0ff?usp=drive_link</a:t>
            </a:r>
          </a:p>
          <a:p>
            <a:pPr algn="l" marL="593305" indent="-296652" lvl="1">
              <a:lnSpc>
                <a:spcPts val="3297"/>
              </a:lnSpc>
              <a:buFont typeface="Arial"/>
              <a:buChar char="•"/>
            </a:pPr>
            <a:r>
              <a:rPr lang="en-US" b="true" sz="274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Demo Video : </a:t>
            </a:r>
            <a:r>
              <a:rPr lang="en-US" sz="2748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6" tooltip="https://drive.google.com/drive/folders/1hQZrd8yofaLOQsUQouFpJ11uPzKuLRpo?usp=drive_link"/>
              </a:rPr>
              <a:t>https://drive.google.com/drive/folders/1hQZrd8yofaLOQsUQouFpJ11uPzKuLRpo?usp=drive_link</a:t>
            </a:r>
          </a:p>
          <a:p>
            <a:pPr algn="l" marL="593305" indent="-296652" lvl="1">
              <a:lnSpc>
                <a:spcPts val="3297"/>
              </a:lnSpc>
              <a:buFont typeface="Arial"/>
              <a:buChar char="•"/>
            </a:pPr>
            <a:r>
              <a:rPr lang="en-US" b="true" sz="274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Further References : </a:t>
            </a:r>
            <a:r>
              <a:rPr lang="en-US" sz="2748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7" tooltip="https://drive.google.com/drive/folders/1W00cczZe7VaKeJny0QiycFpMyPxm-vsg?usp=drive_link"/>
              </a:rPr>
              <a:t>https://drive.google.com/drive/folders/1W00cczZe7VaKeJny0QiycFpMyPxm-vsg?usp=drive_link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DAHUNStnfPw</dc:identifier>
  <dcterms:modified xsi:type="dcterms:W3CDTF">2011-08-01T06:04:30Z</dcterms:modified>
  <cp:revision>1</cp:revision>
  <dc:title>SIH2026-IDEA-Presentation-Format.pptx</dc:title>
</cp:coreProperties>
</file>